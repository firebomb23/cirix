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Registos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2E8F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service_features</c:v>
                  </c:pt>
                  <c:pt idx="1">
                    <c:v>audit_log</c:v>
                  </c:pt>
                  <c:pt idx="2">
                    <c:v>ticket_comments</c:v>
                  </c:pt>
                  <c:pt idx="3">
                    <c:v>annual_services</c:v>
                  </c:pt>
                  <c:pt idx="4">
                    <c:v>services</c:v>
                  </c:pt>
                  <c:pt idx="5">
                    <c:v>documents</c:v>
                  </c:pt>
                  <c:pt idx="6">
                    <c:v>articles</c:v>
                  </c:pt>
                  <c:pt idx="7">
                    <c:v>users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16</c:v>
                </c:pt>
                <c:pt idx="1">
                  <c:v>10</c:v>
                </c:pt>
                <c:pt idx="2">
                  <c:v>5</c:v>
                </c:pt>
                <c:pt idx="3">
                  <c:v>5</c:v>
                </c:pt>
                <c:pt idx="4">
                  <c:v>4</c:v>
                </c:pt>
                <c:pt idx="5">
                  <c:v>4</c:v>
                </c:pt>
                <c:pt idx="6">
                  <c:v>3</c:v>
                </c:pt>
                <c:pt idx="7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E2E8F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223B"/>
        </a:solidFill>
        <a:ln>
          <a:noFill/>
        </a:ln>
        <a:effectLst/>
      </c:spPr>
    </c:plotArea>
    <c:plotVisOnly val="1"/>
    <c:dispBlanksAs val="span"/>
  </c:chart>
  <c:spPr>
    <a:solidFill>
      <a:srgbClr val="16223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1E2A47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3840480"/>
            <a:ext cx="3840480" cy="3840480"/>
          </a:xfrm>
          <a:prstGeom prst="ellipse">
            <a:avLst/>
          </a:prstGeom>
          <a:solidFill>
            <a:srgbClr val="16223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057400"/>
            <a:ext cx="1554480" cy="155448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1872" y="2404872"/>
            <a:ext cx="859536" cy="8595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834640" y="2057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DE DADOS  ·  TRABALHO PRÁTICO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788920" y="23774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Ciryx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2834640" y="34290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de Cibersegurança e Conformidade NIS2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2834640" y="40690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letivo 2025-2026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Defesa: 6 de julho de 2026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834640" y="44805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Grupo: [Nomes dos elementos do grupo]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Tema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371600" y="93268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do problema modelado na base de dados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Ciryx é uma empresa de cibersegurança. O portal gere toda a operação: serviços prestados, clientes e a sua conformidade NIS2, documentos partilhados, suporte técnico e rastreabilidade de eventos.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331720"/>
            <a:ext cx="2743200" cy="3383280"/>
          </a:xfrm>
          <a:prstGeom prst="roundRect">
            <a:avLst>
              <a:gd name="adj" fmla="val 2667"/>
            </a:avLst>
          </a:prstGeom>
          <a:solidFill>
            <a:srgbClr val="1622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68680" y="2606040"/>
            <a:ext cx="640080" cy="640080"/>
          </a:xfrm>
          <a:prstGeom prst="ellipse">
            <a:avLst/>
          </a:prstGeom>
          <a:solidFill>
            <a:srgbClr val="1E2A47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2734056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7240" y="33832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 &amp; Conformidade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77240" y="402336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 de cibersegurança e contratos anuais de conformidade NIS2 com prazos e progresso.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10712" y="2331720"/>
            <a:ext cx="2743200" cy="3383280"/>
          </a:xfrm>
          <a:prstGeom prst="roundRect">
            <a:avLst>
              <a:gd name="adj" fmla="val 2667"/>
            </a:avLst>
          </a:prstGeom>
          <a:solidFill>
            <a:srgbClr val="1622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730752" y="2606040"/>
            <a:ext cx="640080" cy="640080"/>
          </a:xfrm>
          <a:prstGeom prst="ellipse">
            <a:avLst/>
          </a:prstGeom>
          <a:solidFill>
            <a:srgbClr val="1E2A47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8768" y="2734056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39312" y="33832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Utilizadores &amp; Clientes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3639312" y="402336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Admins, gestores e clientes, com perfis e autenticação. Entidade central do modelo.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272784" y="2331720"/>
            <a:ext cx="2743200" cy="3383280"/>
          </a:xfrm>
          <a:prstGeom prst="roundRect">
            <a:avLst>
              <a:gd name="adj" fmla="val 2667"/>
            </a:avLst>
          </a:prstGeom>
          <a:solidFill>
            <a:srgbClr val="1622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592824" y="2606040"/>
            <a:ext cx="640080" cy="640080"/>
          </a:xfrm>
          <a:prstGeom prst="ellipse">
            <a:avLst/>
          </a:prstGeom>
          <a:solidFill>
            <a:srgbClr val="1E2A47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734056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01384" y="33832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&amp; Pedidos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6501384" y="402336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de suporte, comentários, pedidos de serviço e conversas com mensagens.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134856" y="2331720"/>
            <a:ext cx="2743200" cy="3383280"/>
          </a:xfrm>
          <a:prstGeom prst="roundRect">
            <a:avLst>
              <a:gd name="adj" fmla="val 2667"/>
            </a:avLst>
          </a:prstGeom>
          <a:solidFill>
            <a:srgbClr val="1622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9454896" y="2606040"/>
            <a:ext cx="640080" cy="640080"/>
          </a:xfrm>
          <a:prstGeom prst="ellipse">
            <a:avLst/>
          </a:prstGeom>
          <a:solidFill>
            <a:srgbClr val="1E2A47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2912" y="2734056"/>
            <a:ext cx="384048" cy="38404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363456" y="33832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&amp; Auditoria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9363456" y="402336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por cliente, artigos do blog, contactos públicos e registo de auditoria.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Abordagem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371600" y="93268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Modelação em três níveis e persistência com SQL puro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1622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1828800"/>
            <a:ext cx="731520" cy="7315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1691640" y="18745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Conceptual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274320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e relações de alto nível, sem detalhes de implementação.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069080" y="219456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4B8A6"/>
                </a:solidFill>
              </a:rPr>
              <a:t>›</a:t>
            </a:r>
            <a:endParaRPr lang="en-US" sz="3400" dirty="0"/>
          </a:p>
        </p:txBody>
      </p:sp>
      <p:sp>
        <p:nvSpPr>
          <p:cNvPr id="12" name="Shape 9"/>
          <p:cNvSpPr/>
          <p:nvPr/>
        </p:nvSpPr>
        <p:spPr>
          <a:xfrm>
            <a:off x="4343400" y="160020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1622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17720" y="1828800"/>
            <a:ext cx="731520" cy="7315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4" name="Text 11"/>
          <p:cNvSpPr/>
          <p:nvPr/>
        </p:nvSpPr>
        <p:spPr>
          <a:xfrm>
            <a:off x="461772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5486400" y="18745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Lógico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617720" y="274320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Atributos, chaves primárias/estrangeiras e normalização (1NF–3NF).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863840" y="219456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4B8A6"/>
                </a:solidFill>
              </a:rPr>
              <a:t>›</a:t>
            </a:r>
            <a:endParaRPr lang="en-US" sz="3400" dirty="0"/>
          </a:p>
        </p:txBody>
      </p:sp>
      <p:sp>
        <p:nvSpPr>
          <p:cNvPr id="18" name="Shape 15"/>
          <p:cNvSpPr/>
          <p:nvPr/>
        </p:nvSpPr>
        <p:spPr>
          <a:xfrm>
            <a:off x="8138160" y="160020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1622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412480" y="1828800"/>
            <a:ext cx="731520" cy="7315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0" name="Text 17"/>
          <p:cNvSpPr/>
          <p:nvPr/>
        </p:nvSpPr>
        <p:spPr>
          <a:xfrm>
            <a:off x="841248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9281160" y="18745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Físico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8412480" y="274320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 PostgreSQL: tipos, restrições, índices e vistas.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548640" y="4206240"/>
            <a:ext cx="11091672" cy="1463040"/>
          </a:xfrm>
          <a:prstGeom prst="roundRect">
            <a:avLst>
              <a:gd name="adj" fmla="val 5000"/>
            </a:avLst>
          </a:prstGeom>
          <a:solidFill>
            <a:srgbClr val="1E2A47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68680" y="4526280"/>
            <a:ext cx="731520" cy="73152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4681728"/>
            <a:ext cx="420624" cy="420624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828800" y="4389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1828800" y="475488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como SGBD. Aplicação Django que acede aos dados com SQL direto (psycopg2) — sem ORM — e um dashboard de métricas (Ficha 9).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Conceptual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371600" y="93268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principais e relacionamentos de alto nível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846320" y="1554480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22D3E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846320" y="16276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UTILIZADOR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846320" y="2011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 central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834640"/>
            <a:ext cx="2194560" cy="685800"/>
          </a:xfrm>
          <a:prstGeom prst="roundRect">
            <a:avLst>
              <a:gd name="adj" fmla="val 10667"/>
            </a:avLst>
          </a:prstGeom>
          <a:solidFill>
            <a:srgbClr val="1622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48640" y="28346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 → Funcionalidade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657600" y="283464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1622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657600" y="28346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→ Comentário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766560" y="283464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1622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766560" y="28346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 → Mensagem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9601200" y="2834640"/>
            <a:ext cx="2016252" cy="685800"/>
          </a:xfrm>
          <a:prstGeom prst="roundRect">
            <a:avLst>
              <a:gd name="adj" fmla="val 10667"/>
            </a:avLst>
          </a:prstGeom>
          <a:solidFill>
            <a:srgbClr val="1622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601200" y="2834640"/>
            <a:ext cx="20162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Anual (NIS2)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379476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1622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48640" y="37947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2834640" y="379476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1622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2834640" y="37947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de Serviço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120640" y="379476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1622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120640" y="37947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Artigo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7406640" y="379476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1622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406640" y="37947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 Público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9692640" y="379476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1622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9692640" y="37947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de Auditoria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548640" y="4800600"/>
            <a:ext cx="11091672" cy="1325880"/>
          </a:xfrm>
          <a:prstGeom prst="roundRect">
            <a:avLst>
              <a:gd name="adj" fmla="val 5517"/>
            </a:avLst>
          </a:prstGeom>
          <a:solidFill>
            <a:srgbClr val="1E2A47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777240" y="4892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Relacionamentos principais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777240" y="52120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Utilizador tem N documentos, tickets, pedidos, contratos, artigos e logs (1:N).  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Serviço tem N funcionalidades · Um Ticket tem N comentários · Uma Conversa tem N mensagens (1:N).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Lógico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371600" y="93268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Atributos, chaves e normalização (1NF · 2NF · 3NF)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6976872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Entidade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Chave Primária (PK)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Chaves Estrangeiras (FK) / Atributos-chave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(UNIQUE), name, role, password_hash, active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services / service_features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service_features.service_id → services  (1NF: sem multi-valor)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client_id → users, assigned_to → users, status, priority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ticket_comments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ticket_id → tickets, user_id → users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client_id → users, uploaded_by → users, visibility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annual_services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client_id → users, assigned_to → users, service_type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conversations / message_lines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conversation_id → conversations, sender_id → users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B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53212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1E2A47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777240" y="5650992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Normalização: </a:t>
            </a:r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 — atributos atómicos (as funcionalidades dos serviços ficam numa tabela própria, não numa lista). 2NF/3NF — todos os atributos dependem da chave; sem dependências parciais ou transitivas.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Físico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371600" y="93268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 em PostgreSQL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1622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148132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48640" y="21945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37560" y="14173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1622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337560" y="148132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3337560" y="21945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Chaves estrangeiras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26480" y="14173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1622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126480" y="148132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6126480" y="21945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915400" y="14173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1622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915400" y="148132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17" name="Text 14"/>
          <p:cNvSpPr/>
          <p:nvPr/>
        </p:nvSpPr>
        <p:spPr>
          <a:xfrm>
            <a:off x="8915400" y="21945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Vistas (VIEWS)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2880360"/>
            <a:ext cx="5394960" cy="3246120"/>
          </a:xfrm>
          <a:prstGeom prst="roundRect">
            <a:avLst>
              <a:gd name="adj" fmla="val 2254"/>
            </a:avLst>
          </a:prstGeom>
          <a:solidFill>
            <a:srgbClr val="1622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77240" y="3017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técnicas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77240" y="3429000"/>
            <a:ext cx="498348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Tipos: SERIAL (PK), VARCHAR, TEXT, TIMESTAMP, DATE, BOOLEAN, SMALLINT.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para domínios (role, status, priority, severity, progress 0–100).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Integridade: ON DELETE CASCADE (dependência total) vs SET NULL (preservar histórico).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índices nas pesquisas frequentes (cliente, estado, datas).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vistas para simplificar consultas (tickets abertos, documentos, contratos, alertas).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126480" y="2880360"/>
            <a:ext cx="5513832" cy="3246120"/>
          </a:xfrm>
          <a:prstGeom prst="roundRect">
            <a:avLst>
              <a:gd name="adj" fmla="val 2254"/>
            </a:avLst>
          </a:prstGeom>
          <a:solidFill>
            <a:srgbClr val="1622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355080" y="3017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Registos por tabela (dados de inicialização)</a:t>
            </a:r>
            <a:endParaRPr lang="en-US" sz="13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6263640" y="3383280"/>
          <a:ext cx="52578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Decisões de Desenho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371600" y="93268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a justificar na defesa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5458968" cy="2194560"/>
          </a:xfrm>
          <a:prstGeom prst="roundRect">
            <a:avLst>
              <a:gd name="adj" fmla="val 3333"/>
            </a:avLst>
          </a:prstGeom>
          <a:solidFill>
            <a:srgbClr val="1622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1737360"/>
            <a:ext cx="594360" cy="594360"/>
          </a:xfrm>
          <a:prstGeom prst="ellipse">
            <a:avLst/>
          </a:prstGeom>
          <a:solidFill>
            <a:srgbClr val="1E2A4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1856232"/>
            <a:ext cx="356616" cy="35661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177393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Integridade referencial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68680" y="242316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onde a dependência é total (ex.: comentários de um ticket) e SET NULL onde se quer manter o histórico (ex.: autor de um documento removido).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181344" y="1463040"/>
            <a:ext cx="5458968" cy="2194560"/>
          </a:xfrm>
          <a:prstGeom prst="roundRect">
            <a:avLst>
              <a:gd name="adj" fmla="val 3333"/>
            </a:avLst>
          </a:prstGeom>
          <a:solidFill>
            <a:srgbClr val="1622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455664" y="1737360"/>
            <a:ext cx="594360" cy="594360"/>
          </a:xfrm>
          <a:prstGeom prst="ellipse">
            <a:avLst/>
          </a:prstGeom>
          <a:solidFill>
            <a:srgbClr val="1E2A4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536" y="1856232"/>
            <a:ext cx="356616" cy="35661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32904" y="177393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Normalização até 3NF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501384" y="242316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dos serviços numa tabela própria (1NF). Sem dependências parciais nem transitivas (2NF/3NF).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3840480"/>
            <a:ext cx="5458968" cy="2194560"/>
          </a:xfrm>
          <a:prstGeom prst="roundRect">
            <a:avLst>
              <a:gd name="adj" fmla="val 3333"/>
            </a:avLst>
          </a:prstGeom>
          <a:solidFill>
            <a:srgbClr val="1622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22960" y="4114800"/>
            <a:ext cx="594360" cy="594360"/>
          </a:xfrm>
          <a:prstGeom prst="ellipse">
            <a:avLst/>
          </a:prstGeom>
          <a:solidFill>
            <a:srgbClr val="1E2A47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4233672"/>
            <a:ext cx="356616" cy="35661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00200" y="415137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Desnormalização justificada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868680" y="480060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client_name e user_email são guardados juntamente com o id por opção: preservar dados históricos mesmo após remoção do utilizador.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181344" y="3840480"/>
            <a:ext cx="5458968" cy="2194560"/>
          </a:xfrm>
          <a:prstGeom prst="roundRect">
            <a:avLst>
              <a:gd name="adj" fmla="val 3333"/>
            </a:avLst>
          </a:prstGeom>
          <a:solidFill>
            <a:srgbClr val="1622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455664" y="4114800"/>
            <a:ext cx="594360" cy="594360"/>
          </a:xfrm>
          <a:prstGeom prst="ellipse">
            <a:avLst/>
          </a:prstGeom>
          <a:solidFill>
            <a:srgbClr val="1E2A47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536" y="4233672"/>
            <a:ext cx="356616" cy="35661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232904" y="415137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Domínios e performance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6501384" y="480060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garante valores válidos; índices aceleram filtros frequentes; vistas encapsulam consultas comuns.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Script SQL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371600" y="93268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das tabelas e inicialização (CREATE + INSERT)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6766560" cy="4754880"/>
          </a:xfrm>
          <a:prstGeom prst="roundRect">
            <a:avLst>
              <a:gd name="adj" fmla="val 1538"/>
            </a:avLst>
          </a:prstGeom>
          <a:solidFill>
            <a:srgbClr val="0A102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1600200"/>
            <a:ext cx="6400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tickets 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          SERIAL PRIMARY KEY,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title       VARCHAR(250) NOT NULL,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category    VARCHAR(20) NOT NULL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CHECK (category IN ('technical','general',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'incident','billing','other')),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priority    VARCHAR(20) NOT NULL DEFAULT 'medium'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CHECK (priority IN ('low','medium',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'high','urgent')),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status      VARCHAR(20) NOT NULL DEFAULT 'open',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client_id   INTEGER NOT NULL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REFERENCES users(id) ON DELETE CASCADE,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assigned_to INTEGER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REFERENCES users(id) ON DELETE SET NULL,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created_at  TIMESTAMP NOT NULL DEFAULT NOW()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tickets (title, category, priority,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status, client_id)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('Incidente de segurança', 'incident',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'urgent', 'resolved', 3);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498080" y="1417320"/>
            <a:ext cx="4142232" cy="4754880"/>
          </a:xfrm>
          <a:prstGeom prst="roundRect">
            <a:avLst>
              <a:gd name="adj" fmla="val 1766"/>
            </a:avLst>
          </a:prstGeom>
          <a:solidFill>
            <a:srgbClr val="1622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2668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script garante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26680" y="2057400"/>
            <a:ext cx="37033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 primária automática (SERIAL).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Domínios validados com CHECK.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Integridade com REFERENCES + ON DELETE.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por omissão (DEFAULT).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inicialização para demonstração.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 numa base projeto_BD vazia, sem erros.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Aplicação Django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371600" y="93268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Persistência com SQL direto — sem ORM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622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527048" y="1691640"/>
            <a:ext cx="640080" cy="64008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208" y="182880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23774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3154680" y="1828800"/>
            <a:ext cx="301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</a:rPr>
              <a:t>›</a:t>
            </a:r>
            <a:endParaRPr lang="en-US" sz="3000" dirty="0"/>
          </a:p>
        </p:txBody>
      </p:sp>
      <p:sp>
        <p:nvSpPr>
          <p:cNvPr id="11" name="Shape 7"/>
          <p:cNvSpPr/>
          <p:nvPr/>
        </p:nvSpPr>
        <p:spPr>
          <a:xfrm>
            <a:off x="3456432" y="15544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622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434840" y="1691640"/>
            <a:ext cx="640080" cy="64008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2880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6432" y="23774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views.py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6062472" y="1828800"/>
            <a:ext cx="301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</a:rPr>
              <a:t>›</a:t>
            </a:r>
            <a:endParaRPr lang="en-US" sz="3000" dirty="0"/>
          </a:p>
        </p:txBody>
      </p:sp>
      <p:sp>
        <p:nvSpPr>
          <p:cNvPr id="16" name="Shape 11"/>
          <p:cNvSpPr/>
          <p:nvPr/>
        </p:nvSpPr>
        <p:spPr>
          <a:xfrm>
            <a:off x="6364224" y="15544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E2A47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342632" y="1691640"/>
            <a:ext cx="640080" cy="64008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9792" y="182880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364224" y="23774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basedados.py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(psycopg2 / SQL)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8970264" y="1828800"/>
            <a:ext cx="301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</a:rPr>
              <a:t>›</a:t>
            </a:r>
            <a:endParaRPr lang="en-US" sz="3000" dirty="0"/>
          </a:p>
        </p:txBody>
      </p:sp>
      <p:sp>
        <p:nvSpPr>
          <p:cNvPr id="21" name="Shape 15"/>
          <p:cNvSpPr/>
          <p:nvPr/>
        </p:nvSpPr>
        <p:spPr>
          <a:xfrm>
            <a:off x="9272016" y="15544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622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10250424" y="1691640"/>
            <a:ext cx="640080" cy="64008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7584" y="1828800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272016" y="23774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548640" y="320040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1622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822960" y="3456432"/>
            <a:ext cx="640080" cy="640080"/>
          </a:xfrm>
          <a:prstGeom prst="ellipse">
            <a:avLst/>
          </a:prstGeom>
          <a:solidFill>
            <a:srgbClr val="1E2A47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" y="3584448"/>
            <a:ext cx="384048" cy="38404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22960" y="4206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</a:t>
            </a:r>
            <a:endParaRPr lang="en-US" sz="1500" dirty="0"/>
          </a:p>
        </p:txBody>
      </p:sp>
      <p:sp>
        <p:nvSpPr>
          <p:cNvPr id="29" name="Text 21"/>
          <p:cNvSpPr/>
          <p:nvPr/>
        </p:nvSpPr>
        <p:spPr>
          <a:xfrm>
            <a:off x="822960" y="47091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validado com bcrypt contra password_hash; role convertido em perfil.</a:t>
            </a:r>
            <a:endParaRPr lang="en-US" sz="1250" dirty="0"/>
          </a:p>
        </p:txBody>
      </p:sp>
      <p:sp>
        <p:nvSpPr>
          <p:cNvPr id="30" name="Shape 22"/>
          <p:cNvSpPr/>
          <p:nvPr/>
        </p:nvSpPr>
        <p:spPr>
          <a:xfrm>
            <a:off x="4325112" y="320040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1622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4599432" y="3456432"/>
            <a:ext cx="640080" cy="640080"/>
          </a:xfrm>
          <a:prstGeom prst="ellipse">
            <a:avLst/>
          </a:prstGeom>
          <a:solidFill>
            <a:srgbClr val="1E2A47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7448" y="3584448"/>
            <a:ext cx="384048" cy="384048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4599432" y="4206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em SQL</a:t>
            </a:r>
            <a:endParaRPr lang="en-US" sz="1500" dirty="0"/>
          </a:p>
        </p:txBody>
      </p:sp>
      <p:sp>
        <p:nvSpPr>
          <p:cNvPr id="34" name="Text 25"/>
          <p:cNvSpPr/>
          <p:nvPr/>
        </p:nvSpPr>
        <p:spPr>
          <a:xfrm>
            <a:off x="4599432" y="47091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Criar, ler, atualizar e eliminar utilizadores com instruções SQL parametrizadas.</a:t>
            </a:r>
            <a:endParaRPr lang="en-US" sz="1250" dirty="0"/>
          </a:p>
        </p:txBody>
      </p:sp>
      <p:sp>
        <p:nvSpPr>
          <p:cNvPr id="35" name="Shape 26"/>
          <p:cNvSpPr/>
          <p:nvPr/>
        </p:nvSpPr>
        <p:spPr>
          <a:xfrm>
            <a:off x="8101584" y="320040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1622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6" name="Shape 27"/>
          <p:cNvSpPr/>
          <p:nvPr/>
        </p:nvSpPr>
        <p:spPr>
          <a:xfrm>
            <a:off x="8375904" y="3456432"/>
            <a:ext cx="640080" cy="640080"/>
          </a:xfrm>
          <a:prstGeom prst="ellipse">
            <a:avLst/>
          </a:prstGeom>
          <a:solidFill>
            <a:srgbClr val="1E2A47"/>
          </a:solidFill>
          <a:ln/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3920" y="3584448"/>
            <a:ext cx="384048" cy="384048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8375904" y="4206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(Ficha 9)</a:t>
            </a:r>
            <a:endParaRPr lang="en-US" sz="1500" dirty="0"/>
          </a:p>
        </p:txBody>
      </p:sp>
      <p:sp>
        <p:nvSpPr>
          <p:cNvPr id="39" name="Text 29"/>
          <p:cNvSpPr/>
          <p:nvPr/>
        </p:nvSpPr>
        <p:spPr>
          <a:xfrm>
            <a:off x="8375904" y="47091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métricas calculadas por consultas SQL e enviadas ao template.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Ficha 9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371600" y="93268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métricas obtidas por consultas SQL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1622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1783080"/>
            <a:ext cx="685800" cy="6858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783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691640" y="1819656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 NIS2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41248" y="26060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Nº de contratos de conformidade agrupados por estado.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25112" y="150876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1622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99432" y="1783080"/>
            <a:ext cx="685800" cy="6858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3" name="Text 10"/>
          <p:cNvSpPr/>
          <p:nvPr/>
        </p:nvSpPr>
        <p:spPr>
          <a:xfrm>
            <a:off x="4599432" y="1783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5468112" y="1819656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incidentes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4617720" y="26060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com mais incidentes (tickets de categoria 'incident').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101584" y="150876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1622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375904" y="1783080"/>
            <a:ext cx="685800" cy="6858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8" name="Text 15"/>
          <p:cNvSpPr/>
          <p:nvPr/>
        </p:nvSpPr>
        <p:spPr>
          <a:xfrm>
            <a:off x="8375904" y="1783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9244584" y="1819656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/ mês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8394192" y="26060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 documentos submetidos por cliente e por mês.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379476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1622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22960" y="4069080"/>
            <a:ext cx="685800" cy="6858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3" name="Text 20"/>
          <p:cNvSpPr/>
          <p:nvPr/>
        </p:nvSpPr>
        <p:spPr>
          <a:xfrm>
            <a:off x="822960" y="4069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1691640" y="4105656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Perfis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841248" y="48920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de utilizadores por perfil (admin / gestor / cliente).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325112" y="379476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1622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599432" y="4069080"/>
            <a:ext cx="685800" cy="6858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8" name="Text 25"/>
          <p:cNvSpPr/>
          <p:nvPr/>
        </p:nvSpPr>
        <p:spPr>
          <a:xfrm>
            <a:off x="4599432" y="4069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9" name="Text 26"/>
          <p:cNvSpPr/>
          <p:nvPr/>
        </p:nvSpPr>
        <p:spPr>
          <a:xfrm>
            <a:off x="5468112" y="4105656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&amp; resolução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4617720" y="48920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dos tickets e tempo médio de resolução (dias).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8101584" y="3794760"/>
            <a:ext cx="3538728" cy="2103120"/>
          </a:xfrm>
          <a:prstGeom prst="roundRect">
            <a:avLst>
              <a:gd name="adj" fmla="val 3478"/>
            </a:avLst>
          </a:prstGeom>
          <a:solidFill>
            <a:srgbClr val="1E2A47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4069080"/>
            <a:ext cx="457200" cy="45720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8869680" y="4069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reais via SQL</a:t>
            </a:r>
            <a:endParaRPr lang="en-US" sz="1400" dirty="0"/>
          </a:p>
        </p:txBody>
      </p:sp>
      <p:sp>
        <p:nvSpPr>
          <p:cNvPr id="34" name="Text 30"/>
          <p:cNvSpPr/>
          <p:nvPr/>
        </p:nvSpPr>
        <p:spPr>
          <a:xfrm>
            <a:off x="8321040" y="46177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consultas correm sobre o esquema real e foram testadas contra PostgreSQL — todas devolvem resultados.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 &amp; Conclusão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371600" y="93268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mostrar ao vivo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1622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16916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Guião da demonstração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194560"/>
            <a:ext cx="5029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Mostrar o esquema no pgAdmin (tabelas, chaves, vistas).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Autenticar no portal (login com bcrypt).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Abrir o dashboard admin — as 5 métricas da Ficha 9.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Demonstrar o CRUD de utilizadores.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Submeter o formulário de contacto (INSERT em SQL).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7240" y="4572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Credenciais de teste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" y="49377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admin@ciryx.pt / admin123   ·   manager@ciryx.pt / manager123   ·   cliente@empresa.pt / client123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63640" y="1508760"/>
            <a:ext cx="5376672" cy="4572000"/>
          </a:xfrm>
          <a:prstGeom prst="roundRect">
            <a:avLst>
              <a:gd name="adj" fmla="val 1600"/>
            </a:avLst>
          </a:prstGeom>
          <a:solidFill>
            <a:srgbClr val="1E2A47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92240" y="16916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92240" y="219456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três modelos são coerentes entre si e com a base de dados implementada.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Persistência feita exclusivamente em SQL (psycopg2), sem ORM, como exigido.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Integridade garantida por chaves, restrições CHECK e regras ON DELETE.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da Ficha 9 alimentado por consultas SQL reais.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elemento (tabela, SQL, Django) pode ser justificado individualmente.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Bases de Dados - Defesa - Ciryx</dc:title>
  <dc:subject>PptxGenJS Presentation</dc:subject>
  <dc:creator>Grupo BD - Ciryx</dc:creator>
  <cp:lastModifiedBy>Grupo BD - Ciryx</cp:lastModifiedBy>
  <cp:revision>1</cp:revision>
  <dcterms:created xsi:type="dcterms:W3CDTF">2026-06-29T23:43:26Z</dcterms:created>
  <dcterms:modified xsi:type="dcterms:W3CDTF">2026-06-29T23:43:26Z</dcterms:modified>
</cp:coreProperties>
</file>